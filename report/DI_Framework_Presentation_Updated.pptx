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9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552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8A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AB5B5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Бакалаврын судалгааны ажил ·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системд зориулсан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annotation-д суурилсан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framework-ийн загварчлал,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хэрэгжүүлэлт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3474720" cy="36576"/>
          </a:xfrm>
          <a:prstGeom prst="rect">
            <a:avLst/>
          </a:prstGeom>
          <a:solidFill>
            <a:srgbClr val="0AB5B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Гүйцэтгэгч: Г.Батням  (22B1NUM5578)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041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Удирдагч:   Др. Т.Цэрэннадмид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МЭДЭЭЛЛИЙН ТЕХНОЛОГИ, ЭЛЕКТРОНИКИЙН СУРГУУЛЬ · МУИС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Агуулга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Судалгааны ажлын үндсэн хэсгүүд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594360" cy="749808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335024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Удиртгал &amp; Асуудлын тодорхойлолт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03120"/>
            <a:ext cx="594360" cy="749808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" y="2267712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2128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Онолын судалгаа — IoC, DI, Annotation, Reflection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035808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35808"/>
            <a:ext cx="594360" cy="749808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" y="3200400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14553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харьцуулалт &amp; Tech Stack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968496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968496"/>
            <a:ext cx="594360" cy="749808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" y="4133088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05840" y="407822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Системийн шаардлага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0" y="1170432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170432"/>
            <a:ext cx="594360" cy="749808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4" name="Text 22"/>
          <p:cNvSpPr/>
          <p:nvPr/>
        </p:nvSpPr>
        <p:spPr>
          <a:xfrm>
            <a:off x="4590288" y="1335024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257800" y="1280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Архитектурын зохиомж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210312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572000" y="2103120"/>
            <a:ext cx="594360" cy="749808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8" name="Text 26"/>
          <p:cNvSpPr/>
          <p:nvPr/>
        </p:nvSpPr>
        <p:spPr>
          <a:xfrm>
            <a:off x="4590288" y="2267712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257800" y="22128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Хэрэгжүүлэлт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0" y="3035808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3035808"/>
            <a:ext cx="594360" cy="749808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2" name="Text 30"/>
          <p:cNvSpPr/>
          <p:nvPr/>
        </p:nvSpPr>
        <p:spPr>
          <a:xfrm>
            <a:off x="4590288" y="3200400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57800" y="314553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Туршилт &amp; Үр дүн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0" y="3968496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3968496"/>
            <a:ext cx="594360" cy="749808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6" name="Text 34"/>
          <p:cNvSpPr/>
          <p:nvPr/>
        </p:nvSpPr>
        <p:spPr>
          <a:xfrm>
            <a:off x="4590288" y="4133088"/>
            <a:ext cx="557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257800" y="407822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Дүгнэлт &amp; Цаашдын хөгжүүлэлт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Удиртгал — Асуудлын тодорхойлолт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Яагаад энэ судалгаа хийх шаардлагатай вэ?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70432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64008" cy="1645920"/>
          </a:xfrm>
          <a:prstGeom prst="rect">
            <a:avLst/>
          </a:prstGeom>
          <a:solidFill>
            <a:srgbClr val="DF2B2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435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300" b="1" dirty="0">
                <a:solidFill>
                  <a:srgbClr val="DF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Сэдэв дэвшүүлсэн үндэслэл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Хөгжүүлэгчид Spring гэх мэт framework-ийг хэрэглэдэг боловч тэдгээрийн дотоод ажиллагааг гүнзгий судалдаггүй. Reflection API, annotation механизм, объектын амьдралын мөчлөг зэрэг ойлголтууд тодорхойгүй үлддэг.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944368"/>
            <a:ext cx="4206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944368"/>
            <a:ext cx="64008" cy="155448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017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n-MN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Зорилго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346704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болон reflection механизмд тулгуурласан суурь DI framework-ийг бие даан хэрэгжүүлж, IoC/DI зарчмын дотоод ажиллагааг практик түвшинд харуулах.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177205"/>
            <a:ext cx="4114800" cy="332841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70432"/>
            <a:ext cx="64008" cy="3328416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124358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Ач холбогдол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1600200"/>
            <a:ext cx="38587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mn-MN" sz="105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Онолын хувьд</a:t>
            </a:r>
            <a:endParaRPr lang="en-US" sz="1050" dirty="0"/>
          </a:p>
          <a:p>
            <a:r>
              <a:rPr lang="en-US" sz="105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IoC, DI, annotation, reflection </a:t>
            </a:r>
            <a:r>
              <a:rPr lang="mn-MN" sz="105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зэрэг ойлголтын дотоод ажиллагааг бодит хэрэгжүүлэлтээр ойлгох.</a:t>
            </a: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 err="1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</a:t>
            </a:r>
            <a:r>
              <a:rPr lang="mn-MN" sz="105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ийн хувьд</a:t>
            </a:r>
            <a:endParaRPr lang="en-US" sz="1050" dirty="0"/>
          </a:p>
          <a:p>
            <a:r>
              <a:rPr lang="en-US" sz="105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Dependency </a:t>
            </a:r>
            <a:r>
              <a:rPr lang="mn-MN" sz="105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удирдлага, </a:t>
            </a:r>
            <a:r>
              <a:rPr lang="en-US" sz="105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container </a:t>
            </a:r>
            <a:r>
              <a:rPr lang="mn-MN" sz="105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зохиомж, </a:t>
            </a:r>
            <a:r>
              <a:rPr lang="en-US" sz="105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backend </a:t>
            </a:r>
            <a:r>
              <a:rPr lang="mn-MN" sz="105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архитектурын суурь мэдлэгийг бататгаж, цаашдын судалгаа хөгжүүлэлтийн үндэс болно.</a:t>
            </a:r>
            <a:endParaRPr lang="en-US" sz="105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Онолын судалгаа — IoC &amp; Dependency Injection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Зарчим, ашиглах арга, харьцуулалт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70432"/>
            <a:ext cx="8595360" cy="10058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16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of Control (IoC)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Объектуудын үүсэлт, удирдлага, хамаарлын шийдлийг программын үндсэн логикоос салгаж, container-ээр удирдуулах архитектурын зарчим. Уламжлалт: объект өөрөө  → IoC: container удирдана.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86000"/>
            <a:ext cx="64008" cy="256032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688336"/>
            <a:ext cx="2514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Байгуулагч функцээр dependency дамжуулна. Хамгийн найдвартай — immutable бүтэц үүсгэнэ. Тест хийхэд хялбар.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82112" y="228600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2286000"/>
            <a:ext cx="64008" cy="2560320"/>
          </a:xfrm>
          <a:prstGeom prst="rect">
            <a:avLst/>
          </a:prstGeom>
          <a:solidFill>
            <a:srgbClr val="1B6B8A"/>
          </a:solidFill>
          <a:ln/>
        </p:spPr>
      </p:sp>
      <p:sp>
        <p:nvSpPr>
          <p:cNvPr id="15" name="Text 13"/>
          <p:cNvSpPr/>
          <p:nvPr/>
        </p:nvSpPr>
        <p:spPr>
          <a:xfrm>
            <a:off x="3319272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Injection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9272" y="2688336"/>
            <a:ext cx="2514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аргаар dependency оноодог. Optional dependency-д тохиромжтой. Runtime үед солих боломжтой.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9904" y="228600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2286000"/>
            <a:ext cx="64008" cy="2560320"/>
          </a:xfrm>
          <a:prstGeom prst="rect">
            <a:avLst/>
          </a:prstGeom>
          <a:solidFill>
            <a:srgbClr val="0B7A6B"/>
          </a:solidFill>
          <a:ln/>
        </p:spPr>
      </p:sp>
      <p:sp>
        <p:nvSpPr>
          <p:cNvPr id="19" name="Text 17"/>
          <p:cNvSpPr/>
          <p:nvPr/>
        </p:nvSpPr>
        <p:spPr>
          <a:xfrm>
            <a:off x="6227064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Injection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27064" y="2688336"/>
            <a:ext cx="2514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annotation ашиглан талбарт шууд inject хийнэ. Код богино, энэ ажилд голчлон ашиглана.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2918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663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Энэхүү судалгааны ажилд Field Injection арга болон DI framework-ийн цөм механизм болох @Component, @Autowired, @Qualifier, @Scope-г хэрэгжүүлнэ.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болон Reflection механизм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үеийн динамик илрүүлэлтийн суурь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70432"/>
            <a:ext cx="41605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160520" cy="41148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1615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in Annotation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annotation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/>
              <a:t>@Override, @Deprecated, @SuppressWarnings , @FunctionalInterface</a:t>
            </a:r>
            <a:endParaRPr lang="en-US" sz="1050" b="1" i="1" dirty="0">
              <a:solidFill>
                <a:srgbClr val="0D8A8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50" b="1" dirty="0">
              <a:solidFill>
                <a:srgbClr val="0D8A8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annotation</a:t>
            </a: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i="1" dirty="0"/>
              <a:t>@Target, </a:t>
            </a:r>
            <a:r>
              <a:rPr lang="mn-MN" sz="1050" b="1" i="1" dirty="0"/>
              <a:t>@</a:t>
            </a:r>
            <a:r>
              <a:rPr lang="en-US" sz="1050" b="1" i="1" dirty="0"/>
              <a:t>Retention</a:t>
            </a:r>
            <a:r>
              <a:rPr lang="en-US" sz="1050" i="1" dirty="0"/>
              <a:t>, </a:t>
            </a:r>
            <a:r>
              <a:rPr lang="mn-MN" sz="1050" i="1" dirty="0"/>
              <a:t>@</a:t>
            </a:r>
            <a:r>
              <a:rPr lang="en-US" sz="1050" i="1" dirty="0"/>
              <a:t>Documented, @Inherited, </a:t>
            </a:r>
            <a:r>
              <a:rPr lang="mn-MN" sz="1050" i="1" dirty="0"/>
              <a:t>@</a:t>
            </a:r>
            <a:r>
              <a:rPr lang="en-US" sz="1050" i="1" dirty="0"/>
              <a:t>Repeatable</a:t>
            </a:r>
          </a:p>
          <a:p>
            <a:endParaRPr lang="en-US" sz="1050" b="1" i="1" dirty="0">
              <a:solidFill>
                <a:srgbClr val="0D8A8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annotation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/>
              <a:t>@Target( </a:t>
            </a:r>
            <a:r>
              <a:rPr lang="en-US" sz="1050" i="1" dirty="0" err="1"/>
              <a:t>ElementType</a:t>
            </a:r>
            <a:r>
              <a:rPr lang="en-US" sz="1050" i="1" dirty="0"/>
              <a:t> .TYPE)</a:t>
            </a:r>
            <a:br>
              <a:rPr lang="en-US" sz="1050" i="1" dirty="0"/>
            </a:br>
            <a:r>
              <a:rPr lang="en-US" sz="1050" i="1" dirty="0"/>
              <a:t>@Retention ( </a:t>
            </a:r>
            <a:r>
              <a:rPr lang="en-US" sz="1050" i="1" dirty="0" err="1"/>
              <a:t>RetentionPolicy</a:t>
            </a:r>
            <a:r>
              <a:rPr lang="en-US" sz="1050" i="1" dirty="0"/>
              <a:t> .RUNTIME)</a:t>
            </a:r>
            <a:br>
              <a:rPr lang="en-US" sz="1050" i="1" dirty="0"/>
            </a:br>
            <a:r>
              <a:rPr lang="en-US" sz="1050" b="1" i="1" dirty="0"/>
              <a:t>public @interface Component {</a:t>
            </a:r>
            <a:br>
              <a:rPr lang="en-US" sz="1050" b="1" i="1" dirty="0"/>
            </a:br>
            <a:r>
              <a:rPr lang="en-US" sz="1050" b="1" i="1" dirty="0"/>
              <a:t> }</a:t>
            </a:r>
          </a:p>
          <a:p>
            <a:endParaRPr lang="en-US" sz="1050" i="1" dirty="0"/>
          </a:p>
          <a:p>
            <a:pPr marL="0" indent="0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annotation-</a:t>
            </a:r>
            <a:r>
              <a:rPr lang="en-US" sz="1050" b="1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ууд</a:t>
            </a: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  · @Autowired  · @Qualifier  · @Scope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605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70432"/>
            <a:ext cx="4160520" cy="41148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1615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механизм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664208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Боломжууд: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Класс, </a:t>
            </a:r>
            <a:r>
              <a:rPr lang="mn-MN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гишүүн өгөгдөл</a:t>
            </a: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mn-MN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функцын </a:t>
            </a:r>
            <a:r>
              <a:rPr lang="en-US" sz="105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мэдээлэл</a:t>
            </a: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унших
• Annotation байгаа эсэхийг шалгах
• Constructor-оор динамик объект үүсгэх
• Private field-д утга оноох
</a:t>
            </a: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Framework-д ашиглах нь: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Динамик класс илрүүлэлт (ClassPathScanner)
• Объект үүсгэлт (getDeclaredConstructor)
• Fail-fast баталгаажуулалт
• Field injection (field.set)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Ижил төрлийн framework-үүдийн харьцуулалт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· Google Guice · Jakarta CDI · Энэ ажил — Олон талаас харьцуулалт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74520" y="1234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Зориулалт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0" y="1234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0" y="1234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Гуравдагч сан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0" y="1234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Онцлог / Ашиглалтын орчин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600200"/>
            <a:ext cx="8595360" cy="676656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1600200"/>
            <a:ext cx="64008" cy="676656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69164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169164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Иж бүрэн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1691640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Дэмжинэ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1691640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Олон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15000" y="169164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Шаардана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169164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AOP, Web, Data — бүхэл экосистем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331720"/>
            <a:ext cx="859536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331720"/>
            <a:ext cx="64008" cy="676656"/>
          </a:xfrm>
          <a:prstGeom prst="rect">
            <a:avLst/>
          </a:prstGeom>
          <a:solidFill>
            <a:srgbClr val="1B6B8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42316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Guice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242316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чиглэлтэй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2423160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Дэмжинэ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2423160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Хязгаар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242316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Шаардана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242316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Хөнгөн, DI-д төвлөрсөн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63240"/>
            <a:ext cx="8595360" cy="676656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3063240"/>
            <a:ext cx="64008" cy="676656"/>
          </a:xfrm>
          <a:prstGeom prst="rect">
            <a:avLst/>
          </a:prstGeom>
          <a:solidFill>
            <a:srgbClr val="0B7A6B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15468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CDI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20240" y="315468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20440" y="3154680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Дэмжинэ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17720" y="3154680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Олон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315468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Шаардана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315468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EE стандарт CDI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794760"/>
            <a:ext cx="8595360" cy="676656"/>
          </a:xfrm>
          <a:prstGeom prst="rect">
            <a:avLst/>
          </a:prstGeom>
          <a:solidFill>
            <a:srgbClr val="E8F7F0"/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" y="3794760"/>
            <a:ext cx="64008" cy="676656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88620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Энэ ажил (Хэрэгж.)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920240" y="388620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Сургалт/Суд.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20440" y="3886200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Дэмжинэ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17720" y="3886200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388620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Байхгүй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03720" y="388620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 цэвэр, reflection-д суурилсан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794759"/>
            <a:ext cx="8595360" cy="844973"/>
          </a:xfrm>
          <a:prstGeom prst="rect">
            <a:avLst/>
          </a:prstGeom>
          <a:solidFill>
            <a:srgbClr val="E8F7F0"/>
          </a:solidFill>
          <a:ln w="25400">
            <a:solidFill>
              <a:srgbClr val="0D8A8A"/>
            </a:solidFill>
            <a:prstDash val="solid"/>
          </a:ln>
        </p:spPr>
        <p:txBody>
          <a:bodyPr/>
          <a:lstStyle/>
          <a:p>
            <a:r>
              <a:rPr lang="en-US" sz="1200" dirty="0"/>
              <a:t>Spring Framework </a:t>
            </a:r>
            <a:r>
              <a:rPr lang="mn-MN" sz="1200" dirty="0"/>
              <a:t>шиг хэт өргөн хүрээтэй, олон давхаргат бүтэцтэй бус, зөвхөн шаардлагатай үндсэн </a:t>
            </a:r>
            <a:r>
              <a:rPr lang="en-US" sz="1200" dirty="0"/>
              <a:t>annotation-</a:t>
            </a:r>
            <a:r>
              <a:rPr lang="mn-MN" sz="1200" dirty="0"/>
              <a:t>уудыг тодорхойлсон</a:t>
            </a:r>
            <a:r>
              <a:rPr lang="en-US" sz="1200" dirty="0"/>
              <a:t>. Guice </a:t>
            </a:r>
            <a:r>
              <a:rPr lang="mn-MN" sz="1200" dirty="0"/>
              <a:t>шиг </a:t>
            </a:r>
            <a:r>
              <a:rPr lang="en-US" sz="1200" dirty="0"/>
              <a:t>dependency injection-</a:t>
            </a:r>
            <a:r>
              <a:rPr lang="mn-MN" sz="1200" dirty="0"/>
              <a:t>ийг ихэвчлэн гар аргаар </a:t>
            </a:r>
            <a:r>
              <a:rPr lang="en-US" sz="1200" dirty="0"/>
              <a:t>binding </a:t>
            </a:r>
            <a:r>
              <a:rPr lang="mn-MN" sz="1200" dirty="0"/>
              <a:t>хийх хэлбэрт тулгуурлуулахгүй, харин илүү автоматжуулсан байдлаар шийдсэн</a:t>
            </a:r>
            <a:r>
              <a:rPr lang="en-US" sz="1200" dirty="0"/>
              <a:t>,</a:t>
            </a:r>
            <a:r>
              <a:rPr lang="mn-MN" sz="1200" dirty="0"/>
              <a:t> мөн </a:t>
            </a:r>
            <a:r>
              <a:rPr lang="en-US" sz="1200" dirty="0"/>
              <a:t>Jakarta CDI </a:t>
            </a:r>
            <a:r>
              <a:rPr lang="mn-MN" sz="1200" dirty="0"/>
              <a:t>шиг нүсэр сан, стандартын өргөн хэрэгжүүлэлтээс зайлсхийсэн, сургалтын болон судалгааны зорилгод нийцсэн </a:t>
            </a:r>
            <a:r>
              <a:rPr lang="en-US" sz="1200" dirty="0"/>
              <a:t>custom framework-</a:t>
            </a:r>
            <a:r>
              <a:rPr lang="mn-MN" sz="1200" dirty="0"/>
              <a:t>ийг зохиомжлон хэрэгжүүлнэ.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 Stack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Технологийн стек (Tech Stack)</a:t>
            </a:r>
          </a:p>
        </p:txBody>
      </p:sp>
      <p:sp>
        <p:nvSpPr>
          <p:cNvPr id="4" name="Sub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>Java SE 17 · Maven 3.9 · JUnit 5 · IntelliJ IDEA — Ашиглалтын орчинд нийцэх эсэх</a:t>
            </a:r>
          </a:p>
        </p:txBody>
      </p:sp>
      <p:sp>
        <p:nvSpPr>
          <p:cNvPr id="5" name="Accent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10" name="C1bg"/>
          <p:cNvSpPr/>
          <p:nvPr/>
        </p:nvSpPr>
        <p:spPr>
          <a:xfrm>
            <a:off x="274320" y="1143000"/>
            <a:ext cx="1966320" cy="37033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C1t"/>
          <p:cNvSpPr/>
          <p:nvPr/>
        </p:nvSpPr>
        <p:spPr>
          <a:xfrm>
            <a:off x="320040" y="1188720"/>
            <a:ext cx="1875600" cy="3612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8A8A"/>
                </a:solidFill>
                <a:latin typeface="Calibri" pitchFamily="34" charset="0"/>
              </a:rPr>
              <a:t>Java SE 17</a:t>
            </a:r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Програмчлалын хэл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✓ Annotation дэмжинэ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✓ Reflection API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✓ LTS тогтвортой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✓ Нэмэлт сангүй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</a:rPr>
              <a:t>Орчинд нийцэх: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</a:rPr>
              <a:t>Win / Linux / macOS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</a:rPr>
              <a:t>OpenJDK / Temurin 17</a:t>
            </a:r>
          </a:p>
        </p:txBody>
      </p:sp>
      <p:sp>
        <p:nvSpPr>
          <p:cNvPr id="20" name="C2bg"/>
          <p:cNvSpPr/>
          <p:nvPr/>
        </p:nvSpPr>
        <p:spPr>
          <a:xfrm>
            <a:off x="2331720" y="1143000"/>
            <a:ext cx="1966320" cy="3703320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21" name="C2t"/>
          <p:cNvSpPr/>
          <p:nvPr/>
        </p:nvSpPr>
        <p:spPr>
          <a:xfrm>
            <a:off x="2377440" y="1188720"/>
            <a:ext cx="1875600" cy="3612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</a:rPr>
              <a:t>Apache Maven</a:t>
            </a:r>
          </a:p>
          <a:p>
            <a:pPr marL="0" indent="0">
              <a:buNone/>
            </a:pPr>
            <a:r>
              <a:rPr lang="en-US" sz="850" b="1" dirty="0">
                <a:solidFill>
                  <a:srgbClr val="1B2A6B"/>
                </a:solidFill>
                <a:latin typeface="Calibri" pitchFamily="34" charset="0"/>
              </a:rPr>
              <a:t>Build хэрэгсэл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B2A6B"/>
                </a:solidFill>
                <a:latin typeface="Calibri" pitchFamily="34" charset="0"/>
              </a:rPr>
              <a:t>✓ Стандарт pom.xml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B2A6B"/>
                </a:solidFill>
                <a:latin typeface="Calibri" pitchFamily="34" charset="0"/>
              </a:rPr>
              <a:t>✓ JUnit 5 нийцтэй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B2A6B"/>
                </a:solidFill>
                <a:latin typeface="Calibri" pitchFamily="34" charset="0"/>
              </a:rPr>
              <a:t>✓ CI/CD нийцнэ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B2A6B"/>
                </a:solidFill>
                <a:latin typeface="Calibri" pitchFamily="34" charset="0"/>
              </a:rPr>
              <a:t>✓ mvn test нэг команд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750" b="1" dirty="0">
                <a:solidFill>
                  <a:srgbClr val="1B2A6B"/>
                </a:solidFill>
                <a:latin typeface="Calibri" pitchFamily="34" charset="0"/>
              </a:rPr>
              <a:t>Орчинд нийцэх: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1B2A6B"/>
                </a:solidFill>
                <a:latin typeface="Calibri" pitchFamily="34" charset="0"/>
              </a:rPr>
              <a:t>Maven 3.6+ орчин</a:t>
            </a:r>
          </a:p>
        </p:txBody>
      </p:sp>
      <p:sp>
        <p:nvSpPr>
          <p:cNvPr id="30" name="C3bg"/>
          <p:cNvSpPr/>
          <p:nvPr/>
        </p:nvSpPr>
        <p:spPr>
          <a:xfrm>
            <a:off x="4389120" y="1143000"/>
            <a:ext cx="1966320" cy="370332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1" name="C3t"/>
          <p:cNvSpPr/>
          <p:nvPr/>
        </p:nvSpPr>
        <p:spPr>
          <a:xfrm>
            <a:off x="4434840" y="1188720"/>
            <a:ext cx="1875600" cy="3612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8A8A"/>
                </a:solidFill>
                <a:latin typeface="Calibri" pitchFamily="34" charset="0"/>
              </a:rPr>
              <a:t>IntelliJ IDEA</a:t>
            </a:r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IDE орчин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✓ Reflection debug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✓ Maven нягт уялдаа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✓ Coverage харагдана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✓ Үнэгүй (Community)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</a:rPr>
              <a:t>Орчинд нийцэх: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</a:rPr>
              <a:t>Win / macOS / Linux</a:t>
            </a:r>
          </a:p>
        </p:txBody>
      </p:sp>
      <p:sp>
        <p:nvSpPr>
          <p:cNvPr id="40" name="C4bg"/>
          <p:cNvSpPr/>
          <p:nvPr/>
        </p:nvSpPr>
        <p:spPr>
          <a:xfrm>
            <a:off x="6446520" y="1143000"/>
            <a:ext cx="2422800" cy="3703320"/>
          </a:xfrm>
          <a:prstGeom prst="rect">
            <a:avLst/>
          </a:prstGeom>
          <a:solidFill>
            <a:srgbClr val="E8F7F0"/>
          </a:solidFill>
          <a:ln w="25400">
            <a:solidFill>
              <a:srgbClr val="0D8A8A"/>
            </a:solidFill>
            <a:prstDash val="solid"/>
          </a:ln>
        </p:spPr>
      </p:sp>
      <p:sp>
        <p:nvSpPr>
          <p:cNvPr id="41" name="C4t"/>
          <p:cNvSpPr/>
          <p:nvPr/>
        </p:nvSpPr>
        <p:spPr>
          <a:xfrm>
            <a:off x="6492240" y="1188720"/>
            <a:ext cx="2331360" cy="3612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8A8A"/>
                </a:solidFill>
                <a:latin typeface="Calibri" pitchFamily="34" charset="0"/>
              </a:rPr>
              <a:t>JUnit 5</a:t>
            </a:r>
          </a:p>
          <a:p>
            <a:pPr marL="0" indent="0">
              <a:buNone/>
            </a:pPr>
            <a:r>
              <a:rPr lang="en-US" sz="850" b="1" dirty="0">
                <a:solidFill>
                  <a:srgbClr val="1B2A6B"/>
                </a:solidFill>
                <a:latin typeface="Calibri" pitchFamily="34" charset="0"/>
              </a:rPr>
              <a:t>Тестийн орчин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B2A6B"/>
                </a:solidFill>
                <a:latin typeface="Calibri" pitchFamily="34" charset="0"/>
              </a:rPr>
              <a:t>✓ assertThrows дэмжинэ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B2A6B"/>
                </a:solidFill>
                <a:latin typeface="Calibri" pitchFamily="34" charset="0"/>
              </a:rPr>
              <a:t>✓ Maven Surefire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B2A6B"/>
                </a:solidFill>
                <a:latin typeface="Calibri" pitchFamily="34" charset="0"/>
              </a:rPr>
              <a:t>✓ Coverage хэмжилт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B2A6B"/>
                </a:solidFill>
                <a:latin typeface="Calibri" pitchFamily="34" charset="0"/>
              </a:rPr>
              <a:t>✓ Integration тест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750" b="1" dirty="0">
                <a:solidFill>
                  <a:srgbClr val="1B2A6B"/>
                </a:solidFill>
                <a:latin typeface="Calibri" pitchFamily="34" charset="0"/>
              </a:rPr>
              <a:t>Орчинд нийцэх: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1B2A6B"/>
                </a:solidFill>
                <a:latin typeface="Calibri" pitchFamily="34" charset="0"/>
              </a:rPr>
              <a:t>Java 8+ бүх орчинд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Системийн шаардлага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 болон функциональ бус шаардлагууд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70432"/>
            <a:ext cx="47548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754880" cy="402336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16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 шаардлагууд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664208"/>
            <a:ext cx="640080" cy="301752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700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ФШ-10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42416" y="170078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scanning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066544"/>
            <a:ext cx="640080" cy="301752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103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ФШ-11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42416" y="210312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detection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468880"/>
            <a:ext cx="640080" cy="301752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5054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ФШ-12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42416" y="250545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registration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2871216"/>
            <a:ext cx="640080" cy="301752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29077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ФШ-13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42416" y="290779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instantiation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273552"/>
            <a:ext cx="640080" cy="301752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3101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ФШ-14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42416" y="331012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3675888"/>
            <a:ext cx="640080" cy="301752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371246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ФШ-15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42416" y="371246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retrieval (getBean)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4078224"/>
            <a:ext cx="640080" cy="301752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4114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ФШ-16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42416" y="411480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management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" y="4480560"/>
            <a:ext cx="640080" cy="301752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45171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ФШ-17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42416" y="451713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212080" y="1170432"/>
            <a:ext cx="36576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12080" y="1170432"/>
            <a:ext cx="3657600" cy="402336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12161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 бус шаардлагууд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21808" y="16642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Гүйцэтгэл: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21808" y="18470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bean &lt; 100ms startup; getBean &lt; 1ms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21808" y="213055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Найдвартай байдал: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21808" y="23134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Тойрог хамаарал startup үед илрэнэ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21808" y="25968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Санах ойн удирдлага: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21808" y="277977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bean дахин үүсгэхгүй — cache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321808" y="30632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Хялбар байдал: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21808" y="324612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ApplicationContext(package) — энгийн API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21808" y="352958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Суурилуулалт: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21808" y="371246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Зөвхөн Java SE — гуравдагч сангүй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321808" y="399592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Тестлэгдэх чадвар: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21808" y="417880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 функциональ шаардлага JUnit 5-аар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21808" y="446227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гаргалт: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21808" y="464515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үед bean мэдээллийг харуулна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Системийн зохиомж — Давхаргат архитектур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· 4 давхарга · 12+ класс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70432"/>
            <a:ext cx="85953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1691640" cy="7680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24358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Layer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57400" y="135331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   @Autowired   @Qualifier   @Scope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938528"/>
            <a:ext cx="36576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084832"/>
            <a:ext cx="85953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84832"/>
            <a:ext cx="1691640" cy="768096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15798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Layer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57400" y="226771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ClassPathScanner  — Package болон дэд package-уудыг нэгжинэ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852928"/>
            <a:ext cx="365760" cy="109728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999232"/>
            <a:ext cx="85953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9232"/>
            <a:ext cx="1691640" cy="768096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07238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Layer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57400" y="318211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 · BeanDefinition · BeanRegistry · DependencyInjector · ScopeType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767328"/>
            <a:ext cx="365760" cy="109728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913632"/>
            <a:ext cx="859536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913632"/>
            <a:ext cx="1691640" cy="7680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98678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Layer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57400" y="409651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BeanCreationException · NoSuchBeanException · CircularDependencyException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Хамаарал: Container давхарга нь Scanner болон Annotation давхаргыг дуудна. Exception давхарга Container-д </a:t>
            </a:r>
            <a:r>
              <a:rPr lang="mn-MN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алдааг мэдээллэнэ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Хэрэгжүүлэлт — Үндсэн компонентууд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 17 · Apache Maven · JUnit 5 · Гуравдагч сангүй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4160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5272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@Component, @Autowired, @Qualifier, @Scope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Дөрвөн custom annotation. Бүгд @Retention(RUNTIME) тохиргоотой. Framework-ийн гаднах интерфэйс.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64008" cy="1051560"/>
          </a:xfrm>
          <a:prstGeom prst="rect">
            <a:avLst/>
          </a:prstGeom>
          <a:solidFill>
            <a:srgbClr val="1B6B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5272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ClassPathScanner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болон дэд package-уудыг рекурсив нэгжиж @Component-той классуудыг илрүүлнэ. Class.forName() ашиглана.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160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77440"/>
            <a:ext cx="64008" cy="105156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44144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BeanDefinition · BeanRegistry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74320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BeanDefinition: mета мэдээлэл (нэр, класс, scope). BeanRegistry: HashMap ашиглан бүртгэл болон singleton cache.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377440"/>
            <a:ext cx="4160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377440"/>
            <a:ext cx="64008" cy="1051560"/>
          </a:xfrm>
          <a:prstGeom prst="rect">
            <a:avLst/>
          </a:prstGeom>
          <a:solidFill>
            <a:srgbClr val="0B7A6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44144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ApplicationContext (төв класс)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74320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Startup: scan → register → singleton үүсгэх → inject. inCreation HashSet-ээр тойрог хамааралыг илрүүлнэ.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160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66160"/>
            <a:ext cx="64008" cy="105156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63016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DependencyInjector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93192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field бүрд @Qualifier (нэрээр) эсвэл төрлөөр dependency хайж олж, field.setAccessible(true) → field.set() inject хийнэ.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566160"/>
            <a:ext cx="4160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566160"/>
            <a:ext cx="64008" cy="10515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63016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давхарга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93192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BeanCreationException · NoSuchBeanException · CircularDependencyException. Fail-fast зарчим: startup үед алдааг тодорхой мэдэгдлээр илрүүлнэ.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дараалал: ApplicationContext(pkg) → scan() → register() → instantiate(singleton) → inject() →ready object →</a:t>
            </a:r>
            <a:r>
              <a:rPr lang="en-US" sz="105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getBean</a:t>
            </a: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Туршилт &amp; Үр дүн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· Интеграцийн болон нэгжийн тест · Coverage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" y="4663439"/>
            <a:ext cx="8624824" cy="415501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r>
              <a:rPr lang="en-US" sz="1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Coverage: Annotation 100% · Exception 100% · Container 86% · Scanner 83% · App </a:t>
            </a:r>
            <a:r>
              <a:rPr lang="mn-MN" sz="1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r>
              <a:rPr lang="en-US" sz="1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</a:t>
            </a:r>
            <a:br>
              <a:rPr lang="mn-MN" sz="1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 err="1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Нийт</a:t>
            </a:r>
            <a:r>
              <a:rPr lang="en-US" sz="1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mn-MN" sz="1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тестийн үр дүн</a:t>
            </a:r>
            <a:r>
              <a:rPr lang="en-US" sz="1000" b="1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Line 89% · Branch 91% · Method 92%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92" name="Text 6"/>
          <p:cNvSpPr/>
          <p:nvPr/>
        </p:nvSpPr>
        <p:spPr>
          <a:xfrm>
            <a:off x="4390815" y="1344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3" name="Shape 8"/>
          <p:cNvSpPr/>
          <p:nvPr/>
        </p:nvSpPr>
        <p:spPr>
          <a:xfrm>
            <a:off x="4253655" y="2139696"/>
            <a:ext cx="2241973" cy="6126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94" name="Shape 9"/>
          <p:cNvSpPr/>
          <p:nvPr/>
        </p:nvSpPr>
        <p:spPr>
          <a:xfrm>
            <a:off x="4253655" y="2139696"/>
            <a:ext cx="64008" cy="6126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5" name="Text 10"/>
          <p:cNvSpPr/>
          <p:nvPr/>
        </p:nvSpPr>
        <p:spPr>
          <a:xfrm>
            <a:off x="4390815" y="2203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Singleton scope</a:t>
            </a:r>
            <a:endParaRPr lang="en-US" sz="1100" dirty="0"/>
          </a:p>
        </p:txBody>
      </p:sp>
      <p:sp>
        <p:nvSpPr>
          <p:cNvPr id="96" name="Text 11"/>
          <p:cNvSpPr/>
          <p:nvPr/>
        </p:nvSpPr>
        <p:spPr>
          <a:xfrm>
            <a:off x="4390814" y="2355466"/>
            <a:ext cx="21048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Ижил instance буцаагдана (assertSame)</a:t>
            </a:r>
            <a:endParaRPr lang="en-US" sz="950" dirty="0"/>
          </a:p>
        </p:txBody>
      </p:sp>
      <p:sp>
        <p:nvSpPr>
          <p:cNvPr id="97" name="Shape 12"/>
          <p:cNvSpPr/>
          <p:nvPr/>
        </p:nvSpPr>
        <p:spPr>
          <a:xfrm>
            <a:off x="4253655" y="2999231"/>
            <a:ext cx="2241973" cy="68215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98" name="Shape 13"/>
          <p:cNvSpPr/>
          <p:nvPr/>
        </p:nvSpPr>
        <p:spPr>
          <a:xfrm>
            <a:off x="4253655" y="2999231"/>
            <a:ext cx="64008" cy="682159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9" name="Text 14"/>
          <p:cNvSpPr/>
          <p:nvPr/>
        </p:nvSpPr>
        <p:spPr>
          <a:xfrm>
            <a:off x="4390815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Prototype scope</a:t>
            </a:r>
            <a:endParaRPr lang="en-US" sz="1100" dirty="0"/>
          </a:p>
        </p:txBody>
      </p:sp>
      <p:sp>
        <p:nvSpPr>
          <p:cNvPr id="100" name="Text 15"/>
          <p:cNvSpPr/>
          <p:nvPr/>
        </p:nvSpPr>
        <p:spPr>
          <a:xfrm>
            <a:off x="4390815" y="3290019"/>
            <a:ext cx="21139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Дуудах бүрд шинэ instance (assertNotSame)</a:t>
            </a:r>
            <a:endParaRPr lang="en-US" sz="950" dirty="0"/>
          </a:p>
        </p:txBody>
      </p:sp>
      <p:sp>
        <p:nvSpPr>
          <p:cNvPr id="101" name="Shape 16"/>
          <p:cNvSpPr/>
          <p:nvPr/>
        </p:nvSpPr>
        <p:spPr>
          <a:xfrm>
            <a:off x="4253655" y="3858768"/>
            <a:ext cx="2241973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02" name="Shape 17"/>
          <p:cNvSpPr/>
          <p:nvPr/>
        </p:nvSpPr>
        <p:spPr>
          <a:xfrm>
            <a:off x="4253655" y="3858768"/>
            <a:ext cx="64008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3" name="Text 18"/>
          <p:cNvSpPr/>
          <p:nvPr/>
        </p:nvSpPr>
        <p:spPr>
          <a:xfrm>
            <a:off x="4390815" y="3922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@Qualifier</a:t>
            </a:r>
            <a:endParaRPr lang="en-US" sz="1100" dirty="0"/>
          </a:p>
        </p:txBody>
      </p:sp>
      <p:sp>
        <p:nvSpPr>
          <p:cNvPr id="104" name="Text 19"/>
          <p:cNvSpPr/>
          <p:nvPr/>
        </p:nvSpPr>
        <p:spPr>
          <a:xfrm>
            <a:off x="4399959" y="4159589"/>
            <a:ext cx="21048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MongoUserRepository яг зөв bean inject хийнэ</a:t>
            </a:r>
            <a:endParaRPr lang="en-US" sz="950" dirty="0"/>
          </a:p>
        </p:txBody>
      </p:sp>
      <p:sp>
        <p:nvSpPr>
          <p:cNvPr id="105" name="Shape 8">
            <a:extLst>
              <a:ext uri="{FF2B5EF4-FFF2-40B4-BE49-F238E27FC236}">
                <a16:creationId xmlns:a16="http://schemas.microsoft.com/office/drawing/2014/main" id="{3AB63E93-78C4-9D5A-39CF-74D9DC202C9E}"/>
              </a:ext>
            </a:extLst>
          </p:cNvPr>
          <p:cNvSpPr/>
          <p:nvPr/>
        </p:nvSpPr>
        <p:spPr>
          <a:xfrm>
            <a:off x="4253656" y="1330452"/>
            <a:ext cx="2251116" cy="6812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6" name="Text 7"/>
          <p:cNvSpPr/>
          <p:nvPr/>
        </p:nvSpPr>
        <p:spPr>
          <a:xfrm>
            <a:off x="4390815" y="1627632"/>
            <a:ext cx="21048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EmailService, OrderService inject зөв хийгдэнэ</a:t>
            </a:r>
            <a:endParaRPr lang="en-US" sz="950" dirty="0"/>
          </a:p>
        </p:txBody>
      </p:sp>
      <p:sp>
        <p:nvSpPr>
          <p:cNvPr id="107" name="Text 10">
            <a:extLst>
              <a:ext uri="{FF2B5EF4-FFF2-40B4-BE49-F238E27FC236}">
                <a16:creationId xmlns:a16="http://schemas.microsoft.com/office/drawing/2014/main" id="{AAEF3B2E-E8D2-9088-3255-4D9EA38C4A9A}"/>
              </a:ext>
            </a:extLst>
          </p:cNvPr>
          <p:cNvSpPr/>
          <p:nvPr/>
        </p:nvSpPr>
        <p:spPr>
          <a:xfrm>
            <a:off x="4390814" y="13944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Dependency Injection</a:t>
            </a:r>
            <a:endParaRPr lang="en-US" sz="1100" dirty="0"/>
          </a:p>
        </p:txBody>
      </p:sp>
      <p:sp>
        <p:nvSpPr>
          <p:cNvPr id="108" name="Shape 9">
            <a:extLst>
              <a:ext uri="{FF2B5EF4-FFF2-40B4-BE49-F238E27FC236}">
                <a16:creationId xmlns:a16="http://schemas.microsoft.com/office/drawing/2014/main" id="{18DC3FC6-75F4-CF2C-826C-A57DAEB1B30B}"/>
              </a:ext>
            </a:extLst>
          </p:cNvPr>
          <p:cNvSpPr/>
          <p:nvPr/>
        </p:nvSpPr>
        <p:spPr>
          <a:xfrm>
            <a:off x="4253655" y="1330451"/>
            <a:ext cx="64008" cy="657437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8" name="Shape 8">
            <a:extLst>
              <a:ext uri="{FF2B5EF4-FFF2-40B4-BE49-F238E27FC236}">
                <a16:creationId xmlns:a16="http://schemas.microsoft.com/office/drawing/2014/main" id="{A9049DCC-0F25-09BB-4E3B-E9C027B3105B}"/>
              </a:ext>
            </a:extLst>
          </p:cNvPr>
          <p:cNvSpPr/>
          <p:nvPr/>
        </p:nvSpPr>
        <p:spPr>
          <a:xfrm>
            <a:off x="6657172" y="2144608"/>
            <a:ext cx="2241973" cy="6126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39" name="Shape 9">
            <a:extLst>
              <a:ext uri="{FF2B5EF4-FFF2-40B4-BE49-F238E27FC236}">
                <a16:creationId xmlns:a16="http://schemas.microsoft.com/office/drawing/2014/main" id="{57974D05-A761-3977-98E1-4FEF150E5812}"/>
              </a:ext>
            </a:extLst>
          </p:cNvPr>
          <p:cNvSpPr/>
          <p:nvPr/>
        </p:nvSpPr>
        <p:spPr>
          <a:xfrm>
            <a:off x="6657172" y="2144608"/>
            <a:ext cx="64008" cy="6126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0" name="Text 11">
            <a:extLst>
              <a:ext uri="{FF2B5EF4-FFF2-40B4-BE49-F238E27FC236}">
                <a16:creationId xmlns:a16="http://schemas.microsoft.com/office/drawing/2014/main" id="{DDB7F422-34D0-C6B3-72D1-FE1F2D5BD813}"/>
              </a:ext>
            </a:extLst>
          </p:cNvPr>
          <p:cNvSpPr/>
          <p:nvPr/>
        </p:nvSpPr>
        <p:spPr>
          <a:xfrm>
            <a:off x="6794331" y="2360378"/>
            <a:ext cx="21048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NoSuchBeanException</a:t>
            </a: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95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зөв</a:t>
            </a: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мэдэгдэл</a:t>
            </a:r>
            <a:endParaRPr lang="en-US" sz="950" dirty="0"/>
          </a:p>
        </p:txBody>
      </p:sp>
      <p:sp>
        <p:nvSpPr>
          <p:cNvPr id="141" name="Shape 12">
            <a:extLst>
              <a:ext uri="{FF2B5EF4-FFF2-40B4-BE49-F238E27FC236}">
                <a16:creationId xmlns:a16="http://schemas.microsoft.com/office/drawing/2014/main" id="{C1F6AFF1-909D-9535-DB6D-823C65DE8058}"/>
              </a:ext>
            </a:extLst>
          </p:cNvPr>
          <p:cNvSpPr/>
          <p:nvPr/>
        </p:nvSpPr>
        <p:spPr>
          <a:xfrm>
            <a:off x="6657172" y="3004143"/>
            <a:ext cx="2241973" cy="68215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42" name="Shape 13">
            <a:extLst>
              <a:ext uri="{FF2B5EF4-FFF2-40B4-BE49-F238E27FC236}">
                <a16:creationId xmlns:a16="http://schemas.microsoft.com/office/drawing/2014/main" id="{BD9E9061-BB6B-1235-5A6B-6B4344CEA5A7}"/>
              </a:ext>
            </a:extLst>
          </p:cNvPr>
          <p:cNvSpPr/>
          <p:nvPr/>
        </p:nvSpPr>
        <p:spPr>
          <a:xfrm>
            <a:off x="6657172" y="3004143"/>
            <a:ext cx="64008" cy="682159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3" name="Text 15">
            <a:extLst>
              <a:ext uri="{FF2B5EF4-FFF2-40B4-BE49-F238E27FC236}">
                <a16:creationId xmlns:a16="http://schemas.microsoft.com/office/drawing/2014/main" id="{4DBA4DC1-10E5-9030-07C6-FDB002EDC4C1}"/>
              </a:ext>
            </a:extLst>
          </p:cNvPr>
          <p:cNvSpPr/>
          <p:nvPr/>
        </p:nvSpPr>
        <p:spPr>
          <a:xfrm>
            <a:off x="6794332" y="3294931"/>
            <a:ext cx="21139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NoSuchBeanException</a:t>
            </a: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шидэгдэнэ</a:t>
            </a:r>
            <a:endParaRPr lang="en-US" sz="950" dirty="0"/>
          </a:p>
        </p:txBody>
      </p:sp>
      <p:sp>
        <p:nvSpPr>
          <p:cNvPr id="144" name="Shape 16">
            <a:extLst>
              <a:ext uri="{FF2B5EF4-FFF2-40B4-BE49-F238E27FC236}">
                <a16:creationId xmlns:a16="http://schemas.microsoft.com/office/drawing/2014/main" id="{AF1FB48A-B007-F3DC-978A-A20B979CD944}"/>
              </a:ext>
            </a:extLst>
          </p:cNvPr>
          <p:cNvSpPr/>
          <p:nvPr/>
        </p:nvSpPr>
        <p:spPr>
          <a:xfrm>
            <a:off x="6657172" y="3863680"/>
            <a:ext cx="2241973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</p:sp>
      <p:sp>
        <p:nvSpPr>
          <p:cNvPr id="145" name="Shape 17">
            <a:extLst>
              <a:ext uri="{FF2B5EF4-FFF2-40B4-BE49-F238E27FC236}">
                <a16:creationId xmlns:a16="http://schemas.microsoft.com/office/drawing/2014/main" id="{86F50AB1-4C7B-969B-61D7-111C018F953A}"/>
              </a:ext>
            </a:extLst>
          </p:cNvPr>
          <p:cNvSpPr/>
          <p:nvPr/>
        </p:nvSpPr>
        <p:spPr>
          <a:xfrm>
            <a:off x="6657172" y="3863680"/>
            <a:ext cx="64008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6" name="Text 19">
            <a:extLst>
              <a:ext uri="{FF2B5EF4-FFF2-40B4-BE49-F238E27FC236}">
                <a16:creationId xmlns:a16="http://schemas.microsoft.com/office/drawing/2014/main" id="{9EE92E10-EDDD-DDFA-71FD-AD59F02122B5}"/>
              </a:ext>
            </a:extLst>
          </p:cNvPr>
          <p:cNvSpPr/>
          <p:nvPr/>
        </p:nvSpPr>
        <p:spPr>
          <a:xfrm>
            <a:off x="6803476" y="4164501"/>
            <a:ext cx="21048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BeanCreationException</a:t>
            </a: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шидэгдэнэ</a:t>
            </a:r>
            <a:endParaRPr lang="en-US" sz="950" dirty="0"/>
          </a:p>
        </p:txBody>
      </p:sp>
      <p:sp>
        <p:nvSpPr>
          <p:cNvPr id="147" name="Shape 8">
            <a:extLst>
              <a:ext uri="{FF2B5EF4-FFF2-40B4-BE49-F238E27FC236}">
                <a16:creationId xmlns:a16="http://schemas.microsoft.com/office/drawing/2014/main" id="{3050A31E-66C2-BFA5-CD3A-E1C5C0FF13E0}"/>
              </a:ext>
            </a:extLst>
          </p:cNvPr>
          <p:cNvSpPr/>
          <p:nvPr/>
        </p:nvSpPr>
        <p:spPr>
          <a:xfrm>
            <a:off x="6657173" y="1335364"/>
            <a:ext cx="2251116" cy="6812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8" name="Text 7">
            <a:extLst>
              <a:ext uri="{FF2B5EF4-FFF2-40B4-BE49-F238E27FC236}">
                <a16:creationId xmlns:a16="http://schemas.microsoft.com/office/drawing/2014/main" id="{93D20712-F6A6-99CF-3F5E-B16FC6DD1497}"/>
              </a:ext>
            </a:extLst>
          </p:cNvPr>
          <p:cNvSpPr/>
          <p:nvPr/>
        </p:nvSpPr>
        <p:spPr>
          <a:xfrm>
            <a:off x="6794332" y="1632544"/>
            <a:ext cx="21048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CircularDependencyException</a:t>
            </a:r>
            <a:r>
              <a:rPr lang="en-US" sz="9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шидэгдэнэ</a:t>
            </a:r>
            <a:endParaRPr lang="en-US" sz="950" dirty="0"/>
          </a:p>
        </p:txBody>
      </p:sp>
      <p:sp>
        <p:nvSpPr>
          <p:cNvPr id="149" name="Shape 9">
            <a:extLst>
              <a:ext uri="{FF2B5EF4-FFF2-40B4-BE49-F238E27FC236}">
                <a16:creationId xmlns:a16="http://schemas.microsoft.com/office/drawing/2014/main" id="{7F06FB72-BCFF-5376-4ED8-463544FB43F0}"/>
              </a:ext>
            </a:extLst>
          </p:cNvPr>
          <p:cNvSpPr/>
          <p:nvPr/>
        </p:nvSpPr>
        <p:spPr>
          <a:xfrm>
            <a:off x="6657172" y="1335363"/>
            <a:ext cx="64008" cy="657437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0" name="Text 22">
            <a:extLst>
              <a:ext uri="{FF2B5EF4-FFF2-40B4-BE49-F238E27FC236}">
                <a16:creationId xmlns:a16="http://schemas.microsoft.com/office/drawing/2014/main" id="{1183E355-7C87-51D8-0363-FE94B32353A4}"/>
              </a:ext>
            </a:extLst>
          </p:cNvPr>
          <p:cNvSpPr/>
          <p:nvPr/>
        </p:nvSpPr>
        <p:spPr>
          <a:xfrm>
            <a:off x="6803476" y="1396533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Circular Dependency</a:t>
            </a:r>
            <a:endParaRPr lang="en-US" sz="1100" dirty="0"/>
          </a:p>
        </p:txBody>
      </p:sp>
      <p:sp>
        <p:nvSpPr>
          <p:cNvPr id="151" name="Text 26">
            <a:extLst>
              <a:ext uri="{FF2B5EF4-FFF2-40B4-BE49-F238E27FC236}">
                <a16:creationId xmlns:a16="http://schemas.microsoft.com/office/drawing/2014/main" id="{1611749B-8F5B-5B9D-4BE9-6CFE7B188FBD}"/>
              </a:ext>
            </a:extLst>
          </p:cNvPr>
          <p:cNvSpPr/>
          <p:nvPr/>
        </p:nvSpPr>
        <p:spPr>
          <a:xfrm>
            <a:off x="6794332" y="2206455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NoSuchBean (нэрээр)</a:t>
            </a:r>
            <a:endParaRPr lang="en-US" sz="1100" dirty="0"/>
          </a:p>
        </p:txBody>
      </p:sp>
      <p:sp>
        <p:nvSpPr>
          <p:cNvPr id="152" name="Text 30">
            <a:extLst>
              <a:ext uri="{FF2B5EF4-FFF2-40B4-BE49-F238E27FC236}">
                <a16:creationId xmlns:a16="http://schemas.microsoft.com/office/drawing/2014/main" id="{747B2FBA-8843-6777-5D42-B7D29821B923}"/>
              </a:ext>
            </a:extLst>
          </p:cNvPr>
          <p:cNvSpPr/>
          <p:nvPr/>
        </p:nvSpPr>
        <p:spPr>
          <a:xfrm>
            <a:off x="6794331" y="304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NoSuchBean (төрлөөр)</a:t>
            </a:r>
            <a:endParaRPr lang="en-US" sz="1100" dirty="0"/>
          </a:p>
        </p:txBody>
      </p:sp>
      <p:sp>
        <p:nvSpPr>
          <p:cNvPr id="153" name="Text 34">
            <a:extLst>
              <a:ext uri="{FF2B5EF4-FFF2-40B4-BE49-F238E27FC236}">
                <a16:creationId xmlns:a16="http://schemas.microsoft.com/office/drawing/2014/main" id="{2B9900DC-3FAC-D5BA-8C32-94DE3F379FE1}"/>
              </a:ext>
            </a:extLst>
          </p:cNvPr>
          <p:cNvSpPr/>
          <p:nvPr/>
        </p:nvSpPr>
        <p:spPr>
          <a:xfrm>
            <a:off x="6803476" y="387832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Default Constructor</a:t>
            </a:r>
            <a:endParaRPr lang="en-US" sz="1100" dirty="0"/>
          </a:p>
        </p:txBody>
      </p:sp>
      <p:sp>
        <p:nvSpPr>
          <p:cNvPr id="154" name="Shape 8">
            <a:extLst>
              <a:ext uri="{FF2B5EF4-FFF2-40B4-BE49-F238E27FC236}">
                <a16:creationId xmlns:a16="http://schemas.microsoft.com/office/drawing/2014/main" id="{FDCAF8BB-636F-B69D-3070-FAF1ABDDC5B0}"/>
              </a:ext>
            </a:extLst>
          </p:cNvPr>
          <p:cNvSpPr/>
          <p:nvPr/>
        </p:nvSpPr>
        <p:spPr>
          <a:xfrm>
            <a:off x="365759" y="1334428"/>
            <a:ext cx="3718737" cy="4631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2A6B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5" name="Shape 9">
            <a:extLst>
              <a:ext uri="{FF2B5EF4-FFF2-40B4-BE49-F238E27FC236}">
                <a16:creationId xmlns:a16="http://schemas.microsoft.com/office/drawing/2014/main" id="{348D60E4-5513-6796-AB8E-9BBA9368F0AA}"/>
              </a:ext>
            </a:extLst>
          </p:cNvPr>
          <p:cNvSpPr/>
          <p:nvPr/>
        </p:nvSpPr>
        <p:spPr>
          <a:xfrm>
            <a:off x="349750" y="1325881"/>
            <a:ext cx="45719" cy="4631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6" name="Text 10">
            <a:extLst>
              <a:ext uri="{FF2B5EF4-FFF2-40B4-BE49-F238E27FC236}">
                <a16:creationId xmlns:a16="http://schemas.microsoft.com/office/drawing/2014/main" id="{88510B1A-6B7A-E61B-45CB-E86690F62A0B}"/>
              </a:ext>
            </a:extLst>
          </p:cNvPr>
          <p:cNvSpPr/>
          <p:nvPr/>
        </p:nvSpPr>
        <p:spPr>
          <a:xfrm>
            <a:off x="509186" y="1424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mn-MN" sz="1100" i="1" dirty="0"/>
              <a:t>Системийн бүх үндсэн багцын хүрээнд тест гүйцэтгэсэн</a:t>
            </a:r>
            <a:endParaRPr lang="en-US" sz="1100" i="1" dirty="0"/>
          </a:p>
        </p:txBody>
      </p:sp>
      <p:sp>
        <p:nvSpPr>
          <p:cNvPr id="158" name="Text 10">
            <a:extLst>
              <a:ext uri="{FF2B5EF4-FFF2-40B4-BE49-F238E27FC236}">
                <a16:creationId xmlns:a16="http://schemas.microsoft.com/office/drawing/2014/main" id="{72D8E9EC-150B-EF4E-0EA1-C6EF00A00A52}"/>
              </a:ext>
            </a:extLst>
          </p:cNvPr>
          <p:cNvSpPr/>
          <p:nvPr/>
        </p:nvSpPr>
        <p:spPr>
          <a:xfrm>
            <a:off x="413175" y="419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mn-MN" sz="1100" b="1" i="1" dirty="0"/>
              <a:t>Зураг 1</a:t>
            </a:r>
            <a:r>
              <a:rPr lang="mn-MN" sz="1100" i="1" dirty="0"/>
              <a:t> Нийт программын хүрээнд тест гүйцэтгэсэн</a:t>
            </a:r>
            <a:endParaRPr lang="en-US" sz="11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521FD-D332-93A5-D92E-240461E16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94" y="2081615"/>
            <a:ext cx="3748402" cy="19948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uture Work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" name="Title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Цаашдын хөгжүүлэлт</a:t>
            </a:r>
          </a:p>
        </p:txBody>
      </p:sp>
      <p:sp>
        <p:nvSpPr>
          <p:cNvPr id="4" name="Sub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>Сул тал илрүүлэлт · Нэмэлт annotation · Бодит төсөлд турших</a:t>
            </a:r>
          </a:p>
        </p:txBody>
      </p:sp>
      <p:sp>
        <p:nvSpPr>
          <p:cNvPr id="5" name="Acc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10" name="LeftHdr"/>
          <p:cNvSpPr/>
          <p:nvPr/>
        </p:nvSpPr>
        <p:spPr>
          <a:xfrm>
            <a:off x="274320" y="1143000"/>
            <a:ext cx="4069080" cy="411480"/>
          </a:xfrm>
          <a:prstGeom prst="rect">
            <a:avLst/>
          </a:prstGeom>
          <a:solidFill>
            <a:srgbClr val="1B2A6B"/>
          </a:solidFill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⚠ Одоогийн сул талууд</a:t>
            </a:r>
          </a:p>
        </p:txBody>
      </p:sp>
      <p:sp>
        <p:nvSpPr>
          <p:cNvPr id="11" name="LeftBody"/>
          <p:cNvSpPr/>
          <p:nvPr/>
        </p:nvSpPr>
        <p:spPr>
          <a:xfrm>
            <a:off x="274320" y="1554480"/>
            <a:ext cx="4069080" cy="3291840"/>
          </a:xfrm>
          <a:prstGeom prst="rect">
            <a:avLst/>
          </a:prstGeom>
          <a:solidFill>
            <a:srgbClr val="F8FAFE"/>
          </a:solidFill>
          <a:ln w="25400">
            <a:solidFill>
              <a:srgbClr val="1B2A6B"/>
            </a:solidFill>
            <a:prstDash val="solid"/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</a:rPr>
              <a:t>• Constructor injection </a:t>
            </a:r>
            <a:r>
              <a:rPr lang="en-US" sz="950" dirty="0" err="1">
                <a:solidFill>
                  <a:srgbClr val="1B2A6B"/>
                </a:solidFill>
                <a:latin typeface="Calibri" pitchFamily="34" charset="0"/>
              </a:rPr>
              <a:t>хэрэгж</a:t>
            </a:r>
            <a:r>
              <a:rPr lang="mn-MN" sz="950" dirty="0">
                <a:solidFill>
                  <a:srgbClr val="1B2A6B"/>
                </a:solidFill>
                <a:latin typeface="Calibri" pitchFamily="34" charset="0"/>
              </a:rPr>
              <a:t>ээ</a:t>
            </a:r>
            <a:r>
              <a:rPr lang="en-US" sz="950" dirty="0" err="1">
                <a:solidFill>
                  <a:srgbClr val="1B2A6B"/>
                </a:solidFill>
                <a:latin typeface="Calibri" pitchFamily="34" charset="0"/>
              </a:rPr>
              <a:t>гүй</a:t>
            </a:r>
            <a:r>
              <a:rPr lang="en-US" sz="950" dirty="0">
                <a:solidFill>
                  <a:srgbClr val="1B2A6B"/>
                </a:solidFill>
                <a:latin typeface="Calibri" pitchFamily="34" charset="0"/>
              </a:rPr>
              <a:t> — field injection-д хязгаарлагдсан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</a:rPr>
              <a:t>• JAR файлаас scan хийх боломжгүй — filesystem-д тулгуурласан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</a:rPr>
              <a:t>• Web scope (request, session) </a:t>
            </a:r>
            <a:r>
              <a:rPr lang="en-US" sz="950" dirty="0" err="1">
                <a:solidFill>
                  <a:srgbClr val="1B2A6B"/>
                </a:solidFill>
                <a:latin typeface="Calibri" pitchFamily="34" charset="0"/>
              </a:rPr>
              <a:t>дэмж</a:t>
            </a:r>
            <a:r>
              <a:rPr lang="mn-MN" sz="950" dirty="0">
                <a:solidFill>
                  <a:srgbClr val="1B2A6B"/>
                </a:solidFill>
                <a:latin typeface="Calibri" pitchFamily="34" charset="0"/>
              </a:rPr>
              <a:t>ээ</a:t>
            </a:r>
            <a:r>
              <a:rPr lang="en-US" sz="950" dirty="0" err="1">
                <a:solidFill>
                  <a:srgbClr val="1B2A6B"/>
                </a:solidFill>
                <a:latin typeface="Calibri" pitchFamily="34" charset="0"/>
              </a:rPr>
              <a:t>гүй</a:t>
            </a:r>
            <a:endParaRPr lang="en-US" sz="950" dirty="0">
              <a:solidFill>
                <a:srgbClr val="1B2A6B"/>
              </a:solidFill>
              <a:latin typeface="Calibri" pitchFamily="34" charset="0"/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2A6B"/>
                </a:solidFill>
                <a:latin typeface="Calibri" pitchFamily="34" charset="0"/>
              </a:rPr>
              <a:t>•</a:t>
            </a:r>
            <a:r>
              <a:rPr lang="mn-MN" sz="950" dirty="0">
                <a:solidFill>
                  <a:srgbClr val="1B2A6B"/>
                </a:solidFill>
                <a:latin typeface="Calibri" pitchFamily="34" charset="0"/>
              </a:rPr>
              <a:t> </a:t>
            </a:r>
            <a:r>
              <a:rPr lang="en-US" sz="950" dirty="0">
                <a:solidFill>
                  <a:srgbClr val="1B2A6B"/>
                </a:solidFill>
                <a:latin typeface="Calibri" pitchFamily="34" charset="0"/>
              </a:rPr>
              <a:t>Annotation </a:t>
            </a:r>
            <a:r>
              <a:rPr lang="mn-MN" sz="950" dirty="0">
                <a:solidFill>
                  <a:srgbClr val="1B2A6B"/>
                </a:solidFill>
                <a:latin typeface="Calibri" pitchFamily="34" charset="0"/>
              </a:rPr>
              <a:t>дутмаг</a:t>
            </a:r>
          </a:p>
          <a:p>
            <a:pPr marL="0" indent="0">
              <a:buNone/>
            </a:pPr>
            <a:endParaRPr lang="mn-MN" sz="950" dirty="0">
              <a:solidFill>
                <a:srgbClr val="1B2A6B"/>
              </a:solidFill>
              <a:latin typeface="Calibri" pitchFamily="34" charset="0"/>
            </a:endParaRPr>
          </a:p>
          <a:p>
            <a:r>
              <a:rPr lang="en-US" sz="950" dirty="0">
                <a:solidFill>
                  <a:srgbClr val="1B2A6B"/>
                </a:solidFill>
                <a:latin typeface="Calibri" pitchFamily="34" charset="0"/>
              </a:rPr>
              <a:t>• </a:t>
            </a:r>
            <a:r>
              <a:rPr lang="mn-MN" sz="950" dirty="0">
                <a:solidFill>
                  <a:srgbClr val="1B2A6B"/>
                </a:solidFill>
                <a:latin typeface="Calibri" pitchFamily="34" charset="0"/>
              </a:rPr>
              <a:t>Бодит төсөлд туршигдаагүй</a:t>
            </a:r>
            <a:endParaRPr lang="en-US" sz="950" dirty="0">
              <a:solidFill>
                <a:srgbClr val="1B2A6B"/>
              </a:solidFill>
              <a:latin typeface="Calibri" pitchFamily="34" charset="0"/>
            </a:endParaRPr>
          </a:p>
          <a:p>
            <a:endParaRPr lang="en-US" sz="950" dirty="0"/>
          </a:p>
          <a:p>
            <a:r>
              <a:rPr lang="en-US" sz="950" dirty="0">
                <a:solidFill>
                  <a:srgbClr val="1B2A6B"/>
                </a:solidFill>
                <a:latin typeface="Calibri" pitchFamily="34" charset="0"/>
              </a:rPr>
              <a:t>• Г</a:t>
            </a:r>
            <a:r>
              <a:rPr lang="mn-MN" sz="950" dirty="0">
                <a:solidFill>
                  <a:srgbClr val="1B2A6B"/>
                </a:solidFill>
                <a:latin typeface="Calibri" pitchFamily="34" charset="0"/>
              </a:rPr>
              <a:t>үйцэтгэлийн үнэлгээ бүрэн биш</a:t>
            </a:r>
            <a:endParaRPr lang="en-US" sz="950" dirty="0">
              <a:solidFill>
                <a:srgbClr val="1B2A6B"/>
              </a:solidFill>
              <a:latin typeface="Calibri" pitchFamily="34" charset="0"/>
            </a:endParaRPr>
          </a:p>
          <a:p>
            <a:endParaRPr lang="en-US" sz="950" dirty="0"/>
          </a:p>
          <a:p>
            <a:r>
              <a:rPr lang="en-US" sz="950" dirty="0">
                <a:solidFill>
                  <a:srgbClr val="1B2A6B"/>
                </a:solidFill>
                <a:latin typeface="Calibri" pitchFamily="34" charset="0"/>
              </a:rPr>
              <a:t>•</a:t>
            </a:r>
            <a:r>
              <a:rPr lang="mn-MN" sz="950" dirty="0">
                <a:solidFill>
                  <a:srgbClr val="1B2A6B"/>
                </a:solidFill>
                <a:latin typeface="Calibri" pitchFamily="34" charset="0"/>
              </a:rPr>
              <a:t> </a:t>
            </a:r>
            <a:r>
              <a:rPr lang="en-US" sz="950" dirty="0">
                <a:solidFill>
                  <a:srgbClr val="1B2A6B"/>
                </a:solidFill>
                <a:latin typeface="Calibri" pitchFamily="34" charset="0"/>
              </a:rPr>
              <a:t>А</a:t>
            </a:r>
            <a:r>
              <a:rPr lang="mn-MN" sz="950" dirty="0">
                <a:solidFill>
                  <a:srgbClr val="1B2A6B"/>
                </a:solidFill>
                <a:latin typeface="Calibri" pitchFamily="34" charset="0"/>
              </a:rPr>
              <a:t>лдааны мэдээлэл бүрэн бус</a:t>
            </a:r>
          </a:p>
          <a:p>
            <a:pPr marL="0" indent="0">
              <a:buNone/>
            </a:pPr>
            <a:endParaRPr lang="mn-MN" sz="950" dirty="0">
              <a:solidFill>
                <a:srgbClr val="1B2A6B"/>
              </a:solidFill>
              <a:latin typeface="Calibri" pitchFamily="34" charset="0"/>
            </a:endParaRPr>
          </a:p>
          <a:p>
            <a:pPr marL="0" indent="0">
              <a:buNone/>
            </a:pPr>
            <a:endParaRPr lang="en-US" sz="950" dirty="0">
              <a:solidFill>
                <a:srgbClr val="1B2A6B"/>
              </a:solidFill>
              <a:latin typeface="Calibri" pitchFamily="34" charset="0"/>
            </a:endParaRPr>
          </a:p>
        </p:txBody>
      </p:sp>
      <p:sp>
        <p:nvSpPr>
          <p:cNvPr id="20" name="RightHdr"/>
          <p:cNvSpPr/>
          <p:nvPr/>
        </p:nvSpPr>
        <p:spPr>
          <a:xfrm>
            <a:off x="4800600" y="1143000"/>
            <a:ext cx="4069080" cy="411480"/>
          </a:xfrm>
          <a:prstGeom prst="rect">
            <a:avLst/>
          </a:prstGeom>
          <a:solidFill>
            <a:srgbClr val="0D8A8A"/>
          </a:solidFill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→ Цаашдын хэрэгжүүлэлт</a:t>
            </a:r>
          </a:p>
        </p:txBody>
      </p:sp>
      <p:sp>
        <p:nvSpPr>
          <p:cNvPr id="21" name="RightBody"/>
          <p:cNvSpPr/>
          <p:nvPr/>
        </p:nvSpPr>
        <p:spPr>
          <a:xfrm>
            <a:off x="4800600" y="1554480"/>
            <a:ext cx="4069080" cy="3291840"/>
          </a:xfrm>
          <a:prstGeom prst="rect">
            <a:avLst/>
          </a:prstGeom>
          <a:solidFill>
            <a:srgbClr val="E8F7F0"/>
          </a:solidFill>
          <a:ln w="25400">
            <a:solidFill>
              <a:srgbClr val="0D8A8A"/>
            </a:solidFill>
            <a:prstDash val="solid"/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1. Annotation-</a:t>
            </a:r>
            <a:r>
              <a:rPr lang="en-US" sz="1000" b="1" dirty="0" err="1">
                <a:solidFill>
                  <a:srgbClr val="0D8A8A"/>
                </a:solidFill>
                <a:latin typeface="Calibri" pitchFamily="34" charset="0"/>
              </a:rPr>
              <a:t>уудыг</a:t>
            </a: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 </a:t>
            </a:r>
            <a:r>
              <a:rPr lang="mn-MN" sz="1000" b="1" dirty="0">
                <a:solidFill>
                  <a:srgbClr val="0D8A8A"/>
                </a:solidFill>
                <a:latin typeface="Calibri" pitchFamily="34" charset="0"/>
              </a:rPr>
              <a:t>өргөжүүлэх</a:t>
            </a: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, тестлэх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B2A6B"/>
                </a:solidFill>
                <a:latin typeface="Calibri" pitchFamily="34" charset="0"/>
              </a:rPr>
              <a:t>@Service, @Repository, @GetMapping, @PostMapping annotation </a:t>
            </a:r>
            <a:r>
              <a:rPr lang="en-US" sz="900" dirty="0" err="1">
                <a:solidFill>
                  <a:srgbClr val="1B2A6B"/>
                </a:solidFill>
                <a:latin typeface="Calibri" pitchFamily="34" charset="0"/>
              </a:rPr>
              <a:t>нэмж</a:t>
            </a:r>
            <a:r>
              <a:rPr lang="en-US" sz="900" dirty="0">
                <a:solidFill>
                  <a:srgbClr val="1B2A6B"/>
                </a:solidFill>
                <a:latin typeface="Calibri" pitchFamily="34" charset="0"/>
              </a:rPr>
              <a:t>, тестлэх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2. Constructor injection нэмэх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B2A6B"/>
                </a:solidFill>
                <a:latin typeface="Calibri" pitchFamily="34" charset="0"/>
              </a:rPr>
              <a:t>Immutable bean үүсгэх, тест хялбарших давуу </a:t>
            </a:r>
            <a:r>
              <a:rPr lang="en-US" sz="900" dirty="0" err="1">
                <a:solidFill>
                  <a:srgbClr val="1B2A6B"/>
                </a:solidFill>
                <a:latin typeface="Calibri" pitchFamily="34" charset="0"/>
              </a:rPr>
              <a:t>тал</a:t>
            </a:r>
            <a:r>
              <a:rPr lang="en-US" sz="900" dirty="0">
                <a:solidFill>
                  <a:srgbClr val="1B2A6B"/>
                </a:solidFill>
                <a:latin typeface="Calibri" pitchFamily="34" charset="0"/>
              </a:rPr>
              <a:t> </a:t>
            </a:r>
            <a:r>
              <a:rPr lang="en-US" sz="900" dirty="0" err="1">
                <a:solidFill>
                  <a:srgbClr val="1B2A6B"/>
                </a:solidFill>
                <a:latin typeface="Calibri" pitchFamily="34" charset="0"/>
              </a:rPr>
              <a:t>нэмэгдэнэ</a:t>
            </a:r>
            <a:r>
              <a:rPr lang="en-US" sz="900" dirty="0">
                <a:solidFill>
                  <a:srgbClr val="1B2A6B"/>
                </a:solidFill>
                <a:latin typeface="Calibri" pitchFamily="34" charset="0"/>
              </a:rPr>
              <a:t>.</a:t>
            </a:r>
          </a:p>
          <a:p>
            <a:pPr marL="0" indent="0">
              <a:buNone/>
            </a:pPr>
            <a:endParaRPr lang="en-US" sz="900" dirty="0"/>
          </a:p>
          <a:p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3. </a:t>
            </a:r>
            <a:r>
              <a:rPr lang="en-US" sz="1000" b="1" dirty="0" err="1">
                <a:solidFill>
                  <a:srgbClr val="0D8A8A"/>
                </a:solidFill>
                <a:latin typeface="Calibri" pitchFamily="34" charset="0"/>
              </a:rPr>
              <a:t>Нэмэлт</a:t>
            </a: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 </a:t>
            </a:r>
            <a:r>
              <a:rPr lang="en-US" sz="1000" b="1" dirty="0" err="1">
                <a:solidFill>
                  <a:srgbClr val="0D8A8A"/>
                </a:solidFill>
                <a:latin typeface="Calibri" pitchFamily="34" charset="0"/>
              </a:rPr>
              <a:t>боломж</a:t>
            </a: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 </a:t>
            </a:r>
            <a:r>
              <a:rPr lang="en-US" sz="1000" b="1" dirty="0" err="1">
                <a:solidFill>
                  <a:srgbClr val="0D8A8A"/>
                </a:solidFill>
                <a:latin typeface="Calibri" pitchFamily="34" charset="0"/>
              </a:rPr>
              <a:t>судлах</a:t>
            </a: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 </a:t>
            </a:r>
            <a:endParaRPr lang="mn-MN" sz="1000" b="1" dirty="0">
              <a:solidFill>
                <a:srgbClr val="0D8A8A"/>
              </a:solidFill>
              <a:latin typeface="Calibri" pitchFamily="34" charset="0"/>
            </a:endParaRPr>
          </a:p>
          <a:p>
            <a:r>
              <a:rPr lang="en-US" sz="900" dirty="0">
                <a:solidFill>
                  <a:srgbClr val="1B2A6B"/>
                </a:solidFill>
                <a:latin typeface="Calibri" pitchFamily="34" charset="0"/>
              </a:rPr>
              <a:t>Web scope HTTP routing annotation (@GetMapping)</a:t>
            </a:r>
            <a:endParaRPr lang="mn-MN" sz="900" dirty="0">
              <a:solidFill>
                <a:srgbClr val="1B2A6B"/>
              </a:solidFill>
              <a:latin typeface="Calibri" pitchFamily="34" charset="0"/>
            </a:endParaRPr>
          </a:p>
          <a:p>
            <a:endParaRPr lang="en-US" sz="900" dirty="0"/>
          </a:p>
          <a:p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4. </a:t>
            </a:r>
            <a:r>
              <a:rPr lang="mn-MN" sz="1000" b="1" dirty="0">
                <a:solidFill>
                  <a:srgbClr val="0D8A8A"/>
                </a:solidFill>
                <a:latin typeface="Calibri" pitchFamily="34" charset="0"/>
              </a:rPr>
              <a:t>Тестлэлийн </a:t>
            </a: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branch - </a:t>
            </a:r>
            <a:r>
              <a:rPr lang="mn-MN" sz="1000" b="1" dirty="0">
                <a:solidFill>
                  <a:srgbClr val="0D8A8A"/>
                </a:solidFill>
                <a:latin typeface="Calibri" pitchFamily="34" charset="0"/>
              </a:rPr>
              <a:t>г дахин сайжруулах</a:t>
            </a:r>
            <a:endParaRPr lang="en-US" sz="1000" b="1" dirty="0">
              <a:solidFill>
                <a:srgbClr val="0D8A8A"/>
              </a:solidFill>
              <a:latin typeface="Calibri" pitchFamily="34" charset="0"/>
            </a:endParaRPr>
          </a:p>
          <a:p>
            <a:r>
              <a:rPr lang="mn-MN" sz="1000" dirty="0">
                <a:solidFill>
                  <a:srgbClr val="1B2A6B"/>
                </a:solidFill>
                <a:latin typeface="Calibri" pitchFamily="34" charset="0"/>
              </a:rPr>
              <a:t>Одоогийн болон нэмэлт </a:t>
            </a:r>
            <a:r>
              <a:rPr lang="en-US" sz="1000" dirty="0">
                <a:solidFill>
                  <a:srgbClr val="1B2A6B"/>
                </a:solidFill>
                <a:latin typeface="Calibri" pitchFamily="34" charset="0"/>
              </a:rPr>
              <a:t>annotation – </a:t>
            </a:r>
            <a:r>
              <a:rPr lang="mn-MN" sz="1000" dirty="0">
                <a:solidFill>
                  <a:srgbClr val="1B2A6B"/>
                </a:solidFill>
                <a:latin typeface="Calibri" pitchFamily="34" charset="0"/>
              </a:rPr>
              <a:t>уудын тестийн үр дүнг харьцуулан шинжлэх</a:t>
            </a:r>
            <a:endParaRPr lang="en-US" sz="1000" dirty="0">
              <a:solidFill>
                <a:srgbClr val="1B2A6B"/>
              </a:solidFill>
              <a:latin typeface="Calibri" pitchFamily="34" charset="0"/>
            </a:endParaRPr>
          </a:p>
          <a:p>
            <a:endParaRPr lang="mn-MN" sz="1000" b="1" dirty="0">
              <a:solidFill>
                <a:srgbClr val="0D8A8A"/>
              </a:solidFill>
              <a:latin typeface="Calibri" pitchFamily="34" charset="0"/>
            </a:endParaRPr>
          </a:p>
          <a:p>
            <a:r>
              <a:rPr lang="mn-MN" sz="1000" b="1" dirty="0">
                <a:solidFill>
                  <a:srgbClr val="0D8A8A"/>
                </a:solidFill>
                <a:latin typeface="Calibri" pitchFamily="34" charset="0"/>
              </a:rPr>
              <a:t>5</a:t>
            </a: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. </a:t>
            </a:r>
            <a:r>
              <a:rPr lang="mn-MN" sz="1000" b="1" dirty="0">
                <a:solidFill>
                  <a:srgbClr val="0D8A8A"/>
                </a:solidFill>
                <a:latin typeface="Calibri" pitchFamily="34" charset="0"/>
              </a:rPr>
              <a:t>Алдааны мэдээллийг сайжруулах </a:t>
            </a: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 </a:t>
            </a:r>
            <a:endParaRPr lang="mn-MN" sz="1000" b="1" dirty="0">
              <a:solidFill>
                <a:srgbClr val="0D8A8A"/>
              </a:solidFill>
              <a:latin typeface="Calibri" pitchFamily="34" charset="0"/>
            </a:endParaRPr>
          </a:p>
          <a:p>
            <a:r>
              <a:rPr lang="mn-MN" sz="900" dirty="0">
                <a:solidFill>
                  <a:srgbClr val="1B2A6B"/>
                </a:solidFill>
                <a:latin typeface="Calibri" pitchFamily="34" charset="0"/>
              </a:rPr>
              <a:t>Нэмэлтээр тодорхойлсон болон одоогийн алдааны мэдээллийг ойлгомжтой байдлаар хэрэгжүүлэх</a:t>
            </a:r>
            <a:r>
              <a:rPr lang="en-US" sz="900" dirty="0">
                <a:solidFill>
                  <a:srgbClr val="1B2A6B"/>
                </a:solidFill>
                <a:latin typeface="Calibri" pitchFamily="34" charset="0"/>
              </a:rPr>
              <a:t>.</a:t>
            </a:r>
            <a:endParaRPr lang="mn-MN" sz="900" dirty="0">
              <a:solidFill>
                <a:srgbClr val="1B2A6B"/>
              </a:solidFill>
              <a:latin typeface="Calibri" pitchFamily="34" charset="0"/>
            </a:endParaRPr>
          </a:p>
          <a:p>
            <a:endParaRPr lang="en-US" sz="900" dirty="0"/>
          </a:p>
          <a:p>
            <a:r>
              <a:rPr lang="mn-MN" sz="1000" b="1" dirty="0">
                <a:solidFill>
                  <a:srgbClr val="0D8A8A"/>
                </a:solidFill>
                <a:latin typeface="Calibri" pitchFamily="34" charset="0"/>
              </a:rPr>
              <a:t>6</a:t>
            </a: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. </a:t>
            </a:r>
            <a:r>
              <a:rPr lang="en-US" sz="1000" b="1" dirty="0" err="1">
                <a:solidFill>
                  <a:srgbClr val="0D8A8A"/>
                </a:solidFill>
                <a:latin typeface="Calibri" pitchFamily="34" charset="0"/>
              </a:rPr>
              <a:t>Бодит</a:t>
            </a: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 </a:t>
            </a:r>
            <a:r>
              <a:rPr lang="en-US" sz="1000" b="1" dirty="0" err="1">
                <a:solidFill>
                  <a:srgbClr val="0D8A8A"/>
                </a:solidFill>
                <a:latin typeface="Calibri" pitchFamily="34" charset="0"/>
              </a:rPr>
              <a:t>төсөлд</a:t>
            </a: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 </a:t>
            </a:r>
            <a:r>
              <a:rPr lang="en-US" sz="1000" b="1" dirty="0" err="1">
                <a:solidFill>
                  <a:srgbClr val="0D8A8A"/>
                </a:solidFill>
                <a:latin typeface="Calibri" pitchFamily="34" charset="0"/>
              </a:rPr>
              <a:t>хэрэглэн</a:t>
            </a:r>
            <a:r>
              <a:rPr lang="en-US" sz="1000" b="1" dirty="0">
                <a:solidFill>
                  <a:srgbClr val="0D8A8A"/>
                </a:solidFill>
                <a:latin typeface="Calibri" pitchFamily="34" charset="0"/>
              </a:rPr>
              <a:t> </a:t>
            </a:r>
            <a:r>
              <a:rPr lang="en-US" sz="1000" b="1" dirty="0" err="1">
                <a:solidFill>
                  <a:srgbClr val="0D8A8A"/>
                </a:solidFill>
                <a:latin typeface="Calibri" pitchFamily="34" charset="0"/>
              </a:rPr>
              <a:t>туршиx</a:t>
            </a:r>
            <a:endParaRPr lang="en-US" sz="1000" b="1" dirty="0">
              <a:solidFill>
                <a:srgbClr val="0D8A8A"/>
              </a:solidFill>
              <a:latin typeface="Calibri" pitchFamily="34" charset="0"/>
            </a:endParaRPr>
          </a:p>
          <a:p>
            <a:r>
              <a:rPr lang="mn-MN" sz="900" dirty="0">
                <a:solidFill>
                  <a:srgbClr val="1B2A6B"/>
                </a:solidFill>
                <a:latin typeface="Calibri" pitchFamily="34" charset="0"/>
              </a:rPr>
              <a:t>Олон модульт болон бодит төслийн орчинд ашиглан баталгаажуулах</a:t>
            </a:r>
            <a:endParaRPr lang="en-US" sz="900" dirty="0">
              <a:solidFill>
                <a:srgbClr val="1B2A6B"/>
              </a:solidFill>
              <a:latin typeface="Calibri" pitchFamily="34" charset="0"/>
            </a:endParaRPr>
          </a:p>
          <a:p>
            <a:pPr marL="0" indent="0">
              <a:buNone/>
            </a:pPr>
            <a:endParaRPr lang="en-US" sz="900" dirty="0">
              <a:solidFill>
                <a:srgbClr val="1B2A6B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8229600" cy="54864"/>
          </a:xfrm>
          <a:prstGeom prst="rect">
            <a:avLst/>
          </a:prstGeom>
          <a:solidFill>
            <a:srgbClr val="0AB5B5"/>
          </a:solidFill>
          <a:ln/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CEAFD8-7E1D-236C-EB98-5AFA3DC0062E}"/>
              </a:ext>
            </a:extLst>
          </p:cNvPr>
          <p:cNvSpPr txBox="1"/>
          <p:nvPr/>
        </p:nvSpPr>
        <p:spPr>
          <a:xfrm>
            <a:off x="1046481" y="34468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mn-MN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Дүгнэлт</a:t>
            </a:r>
            <a:endParaRPr lang="en-US" sz="3200" dirty="0"/>
          </a:p>
        </p:txBody>
      </p:sp>
      <p:sp>
        <p:nvSpPr>
          <p:cNvPr id="36" name="Shape 24">
            <a:extLst>
              <a:ext uri="{FF2B5EF4-FFF2-40B4-BE49-F238E27FC236}">
                <a16:creationId xmlns:a16="http://schemas.microsoft.com/office/drawing/2014/main" id="{C9C2FF34-7D88-7E0A-160E-3BB38A56A1E2}"/>
              </a:ext>
            </a:extLst>
          </p:cNvPr>
          <p:cNvSpPr/>
          <p:nvPr/>
        </p:nvSpPr>
        <p:spPr>
          <a:xfrm>
            <a:off x="1046481" y="1189183"/>
            <a:ext cx="6952826" cy="2996737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9CB049-EE6B-B9F0-2A45-23BC19BF0C8B}"/>
              </a:ext>
            </a:extLst>
          </p:cNvPr>
          <p:cNvSpPr txBox="1"/>
          <p:nvPr/>
        </p:nvSpPr>
        <p:spPr>
          <a:xfrm>
            <a:off x="1537547" y="1777228"/>
            <a:ext cx="58267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Java SE 17 </a:t>
            </a:r>
            <a:r>
              <a:rPr lang="mn-MN" dirty="0">
                <a:solidFill>
                  <a:schemeClr val="bg1"/>
                </a:solidFill>
              </a:rPr>
              <a:t>орчинд </a:t>
            </a:r>
            <a:r>
              <a:rPr lang="en-US" dirty="0">
                <a:solidFill>
                  <a:schemeClr val="bg1"/>
                </a:solidFill>
              </a:rPr>
              <a:t>annotation, reflection-</a:t>
            </a:r>
            <a:r>
              <a:rPr lang="mn-MN" dirty="0">
                <a:solidFill>
                  <a:schemeClr val="bg1"/>
                </a:solidFill>
              </a:rPr>
              <a:t>д суурилсан </a:t>
            </a:r>
            <a:r>
              <a:rPr lang="en-US" dirty="0">
                <a:solidFill>
                  <a:schemeClr val="bg1"/>
                </a:solidFill>
              </a:rPr>
              <a:t>DI framework-</a:t>
            </a:r>
            <a:r>
              <a:rPr lang="mn-MN" dirty="0">
                <a:solidFill>
                  <a:schemeClr val="bg1"/>
                </a:solidFill>
              </a:rPr>
              <a:t>ийг амжилттай хэрэгжүүлж, </a:t>
            </a:r>
            <a:r>
              <a:rPr lang="en-US" dirty="0">
                <a:solidFill>
                  <a:schemeClr val="bg1"/>
                </a:solidFill>
              </a:rPr>
              <a:t>custom annotation, scope, dependency injection </a:t>
            </a:r>
            <a:r>
              <a:rPr lang="mn-MN" dirty="0">
                <a:solidFill>
                  <a:schemeClr val="bg1"/>
                </a:solidFill>
              </a:rPr>
              <a:t>болон </a:t>
            </a:r>
            <a:r>
              <a:rPr lang="en-US" dirty="0">
                <a:solidFill>
                  <a:schemeClr val="bg1"/>
                </a:solidFill>
              </a:rPr>
              <a:t>exception </a:t>
            </a:r>
            <a:r>
              <a:rPr lang="mn-MN" dirty="0">
                <a:solidFill>
                  <a:schemeClr val="bg1"/>
                </a:solidFill>
              </a:rPr>
              <a:t>боловсруулах үндсэн механизмуудыг тодорхойлон хэрэгжүүллээ</a:t>
            </a:r>
            <a:r>
              <a:rPr lang="en-US" dirty="0">
                <a:solidFill>
                  <a:schemeClr val="bg1"/>
                </a:solidFill>
              </a:rPr>
              <a:t>.</a:t>
            </a:r>
            <a:r>
              <a:rPr lang="mn-MN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JUnit 5 </a:t>
            </a:r>
            <a:r>
              <a:rPr lang="mn-MN" dirty="0">
                <a:solidFill>
                  <a:schemeClr val="bg1"/>
                </a:solidFill>
              </a:rPr>
              <a:t>дээр хийсэн нэгж ба интеграцийн тестийн үр дүн нь уг хэрэгжүүлэлт эхний явцийн зорилгодоо хүрснийг баталсан.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D8A8A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Анхаара</a:t>
            </a:r>
            <a:r>
              <a:rPr lang="mn-MN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n-MN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хандуулсанд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0A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БАЯРЛАЛАА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Г.Батням · 22B1NUM5578 · Удирдагч: Др. Т.Цэрэннадмид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системд зориулсан annotation-д суурилсан Java framework-ийн загварчлал, хэрэгжүүлэлт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4617720"/>
            <a:ext cx="2743200" cy="36576"/>
          </a:xfrm>
          <a:prstGeom prst="rect">
            <a:avLst/>
          </a:prstGeom>
          <a:solidFill>
            <a:srgbClr val="0AB5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5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МЭДЭЭЛЛИЙН ТЕХНОЛОГИ, ЭЛЕКТРОНИКИЙН СУРГУУЛЬ · М</a:t>
            </a:r>
            <a:r>
              <a:rPr lang="mn-MN" sz="800" kern="0" spc="200" dirty="0">
                <a:solidFill>
                  <a:srgbClr val="55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</a:t>
            </a:r>
            <a:r>
              <a:rPr lang="en-US" sz="800" kern="0" spc="200" dirty="0">
                <a:solidFill>
                  <a:srgbClr val="55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1481</Words>
  <Application>Microsoft Office PowerPoint</Application>
  <PresentationFormat>On-screen Show (16:9)</PresentationFormat>
  <Paragraphs>276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Annotation-d suuirlasan Java Framework</dc:title>
  <dc:subject>PptxGenJS Presentation</dc:subject>
  <dc:creator>PptxGenJS</dc:creator>
  <cp:lastModifiedBy>BATNYAM Gantulga</cp:lastModifiedBy>
  <cp:revision>8</cp:revision>
  <dcterms:created xsi:type="dcterms:W3CDTF">2026-03-23T05:27:29Z</dcterms:created>
  <dcterms:modified xsi:type="dcterms:W3CDTF">2026-03-26T03:11:07Z</dcterms:modified>
</cp:coreProperties>
</file>